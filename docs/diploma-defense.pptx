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Министерство науки и высшего образования Российской Федерации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Ярославский государственный университет имени П.Г. Демидова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Кафедра информационных и сетевых технологий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Разработка системы автоматической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классификации фотографий по визуальному стилю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на основе transfer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Calibri"/>
              </a:rPr>
              <a:t>Студент группы ПИЭ-41БО   Т.Р. Журавлев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Calibri"/>
              </a:rPr>
              <a:t>Научный руководитель: к.п.н., доцент Д.Ю. Чалый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Ярославль,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Цель и задачи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Разработать программный комплекс автоматической стилевой классификации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и провести углублённый эмпирический анализ обученной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Восемь задач: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Сбор и разметка датасета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Обзор методов и выбор архитектуры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Обучение и оценка модели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Микросервисная архитектура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29184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REST-API с авторизацией JWT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Контейнеризация и CI/CD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Шесть исследовательских экспериментов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Поиск похожих фотографий через embeddings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Актуальность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430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>•  Объёмы цифровой фотографии растут экспоненциально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>•  Существующие системы (Pinterest, Google Photos, Adobe Lightroom) классифицируют объекты и сцены — не стиль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>•  Стиль (освещение, тональность, композиция) критичен для дизайнеров, кураторов и стоковых платформ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>•  Ниша open-source self-hosted стилевого классификатора не освоена коммерческими продуктами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Архитектура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Микросервисы, асинхронная обработка через очередь сообщений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2860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React SPA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(Vite, :5173)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011680"/>
            <a:ext cx="22860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Spring Backend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(Java 17, :8080)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2011680"/>
            <a:ext cx="22860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FastAPI ML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(Python, :8000)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2011680"/>
            <a:ext cx="1828800" cy="914400"/>
          </a:xfrm>
          <a:prstGeom prst="rect">
            <a:avLst/>
          </a:prstGeom>
          <a:solidFill>
            <a:srgbClr val="F6F6F6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RabbitMQ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114800"/>
            <a:ext cx="2286000" cy="822960"/>
          </a:xfrm>
          <a:prstGeom prst="rect">
            <a:avLst/>
          </a:prstGeom>
          <a:solidFill>
            <a:srgbClr val="F6F6F6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4114800"/>
            <a:ext cx="2286000" cy="822960"/>
          </a:xfrm>
          <a:prstGeom prst="rect">
            <a:avLst/>
          </a:prstGeom>
          <a:solidFill>
            <a:srgbClr val="F6F6F6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MinIO (S3)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317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REST/JSON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3317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AMQP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3317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← 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11430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Calibri"/>
              </a:rPr>
              <a:t>•  Docker Compose · GitHub Actions CI · 11 integration tests (Testcontainers)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Calibri"/>
              </a:rPr>
              <a:t>•  ML-сервис масштабируется независимо от backend'а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Технологический стек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ML-сервис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Spring Boot 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FastAPI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React 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Java 17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Python 3.11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Vite 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JWT, Spring Security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PyTorch 2.4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Axios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JPA, Flyway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EfficientNet-B0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React Router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Testcontainers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Calibri"/>
              </a:rPr>
              <a:t>Инфраструктура: PostgreSQL 16 · MinIO · RabbitMQ 3.13 · Docker Compose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Датасет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4691 фотография, 8 классов, weak supervision из Unsplash и Pexels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Восемь классов: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430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Calibri"/>
              </a:rPr>
              <a:t>airy   dark   dramatic   golden_hour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1430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Calibri"/>
              </a:rPr>
              <a:t>minimalist   monochrome   neon   vintage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Обработка: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1430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MD5-дедупликация — удалено 102 дубликата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Балансировка: cap 600 фото/класс, дисбаланс с 5× до 1.2×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Stratified split 80/20: 3556 train + 893 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Эволюция модели: 4 итерации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EfficientNet-B0 · двухфазный fine-tune · WeightedRandomSampler · label smoothing 0.1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1828800"/>
                <a:gridCol w="4114800"/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Версия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Классы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Val Acc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Замечание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8 (с moody, street)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0.678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Сильный bias на minimalist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7 (без street)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0.724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Bias на moody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8 (+monochrome, +neon, −moody)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0.726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Bias устранён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v3.1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та же, воспроизводимый split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0.694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Финальная модель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Удалены жанровые и композитные классы. Введены операционально определимые (через saturation/brightness).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Финальные метрики v3.1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Accuracy = 0.694   ·   Macro F1 = 0.687   ·   Weighted F1 = 0.692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Класс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neon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0.908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0.904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golden_hour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0.774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0.898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vintage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0.730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0.743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0.737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airy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0.696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0.722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minimalist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0.604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0.640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0.621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dark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0.620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0.578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0.598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monochrome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0.534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0.556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0.545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dramatic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0.574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0.504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0.537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1264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Иерархия: neon &gt; golden_hour &gt; vintage / airy &gt; dark / minimalist &gt; dramatic ≈ monochrome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Устойчивость к перетасовке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Главный методологический результат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430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В первоначальном обучении обнаружено data leakage: val_acc 0.925 (инфлированный)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Реализован воспроизводимый алгоритм train/val split — модель v3.1, честные 0.694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Между двумя независимыми обучениями (v3 → v3.1):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  <a:latin typeface="Calibri"/>
              </a:rPr>
              <a:t>•  Изменения per-class F1 ≤ 9 процентных пунктов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  <a:latin typeface="Calibri"/>
              </a:rPr>
              <a:t>•  Иерархия сложности классов полностью сохраняется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  <a:latin typeface="Calibri"/>
              </a:rPr>
              <a:t>•  Структура топ-путаниц (monochrome ↔ minimalist, dramatic ↔ dark) сохраняется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C0392B"/>
                </a:solidFill>
                <a:latin typeface="Calibri"/>
              </a:rPr>
              <a:t>Выводы — свойства задачи, а не артефакты разбиения данных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Шесть исследовательских экспериментов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657600"/>
                <a:gridCol w="7132320"/>
              </a:tblGrid>
              <a:tr h="5878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Эксперимент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Главный результат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E1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Grad-CAM (интерпретируемость)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Модель смотрит на стилистически осмысленные области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E2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Embeddings + t-SNE / UMAP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k-NN на эмбеддингах = 0.62 (≈ полная модель)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E3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Hand-crafted baseline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RF на 5 признаках = 0.49 → CNN добавляет +20 пп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E4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Temperature scaling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ECE снижен с 0.061 до 0.049 (−20%)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E5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Сравнение с CLIP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CLIP linear probe 0.738 &gt; наш fine-tune 0.694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E6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Multi-label расширение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monochrome F1: 0.545 → 0.934 (+38.9 пп)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Multi-label расширение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Гипотеза: композитные кадры ломают single-label постановку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Класс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Single F1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Multi F1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monochrome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0.545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+38.9 пп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dark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0.598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0.881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+28.3 пп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dramatic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0.537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+7.3 пп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minimalist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0.621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0.640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+1.9 пп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vintage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0.716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−2.1 пп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golden_hour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0.810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−2.1 пп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neon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0.904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0.838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−6.6 пп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607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Calibri"/>
              </a:rPr>
              <a:t>mAP = 0.818   ·   Macro F1 = 0.773   ·   Hamming = 0.92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Сравнение с foundation-моделью CLIP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554480"/>
                <a:gridCol w="1554480"/>
                <a:gridCol w="1828800"/>
                <a:gridCol w="2377440"/>
              </a:tblGrid>
              <a:tr h="5715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Подход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Размер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Обучение</a:t>
                      </a:r>
                    </a:p>
                  </a:txBody>
                  <a:tcPr marL="73152" marR="73152" marT="45720" marB="45720">
                    <a:solidFill>
                      <a:srgbClr val="F0F0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EfficientNet-B0 fine-tune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0.694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0.687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16 МБ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~30 мин T4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CLIP linear probe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0.738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0.730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350 МБ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&lt;1 мин CPU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CLIP zero-shot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0.635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0.616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350 МБ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без обучения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430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CLIP linear probe превосходит наш fine-tune на +4.4 пп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CLIP представления обучены на 400M пар (изображение, текст) — уже содержат стилевую семантику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Направление развития: CLIP в production при GPU-инференсе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Реализованный программный комплекс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React frontend · Spring backend · FastAPI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Calibri"/>
              </a:rPr>
              <a:t>[Сюда вставить скриншот интерфейса: ui-gallery.png]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Направления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430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>•  Ручная multi-label разметка ~1000 фотографий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>•  Переход на CLIP linear probe в production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>•  Fine-tune CLIP методом LoRA для адаптации к датасету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>•  Векторный поиск похожих через pgvector + HNSW-индекс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>•  Stratified k-fold cross-validation для confidence intervals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>•  Persistent split вместе с весами в постоянное хранилище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Заключение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Calibri"/>
              </a:rPr>
              <a:t>Восемь поставленных задач выполнены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Пять ключевых результатов: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430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Устойчивость метрик к перетасовке валидационной выборки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Операциональная определимость классов через статистики признаков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Подтверждена интерпретируемость модели через Grad-CAM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Multi-label трансформация monochrome: F1 0.545 → 0.934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Foundation-модель CLIP превосходит fine-tune (направление развития)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Исходный код, обученные веса и артефакты экспериментов — 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